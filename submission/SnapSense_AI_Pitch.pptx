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8973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1450"/>
            <a:ext cx="3840480" cy="189738"/>
          </a:xfrm>
          <a:prstGeom prst="rect">
            <a:avLst/>
          </a:prstGeom>
          <a:solidFill>
            <a:srgbClr val="8A5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2900"/>
            <a:ext cx="3840480" cy="189738"/>
          </a:xfrm>
          <a:prstGeom prst="rect">
            <a:avLst/>
          </a:prstGeom>
          <a:solidFill>
            <a:srgbClr val="8A5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4350"/>
            <a:ext cx="3840480" cy="189738"/>
          </a:xfrm>
          <a:prstGeom prst="rect">
            <a:avLst/>
          </a:prstGeom>
          <a:solidFill>
            <a:srgbClr val="895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840480" cy="189738"/>
          </a:xfrm>
          <a:prstGeom prst="rect">
            <a:avLst/>
          </a:prstGeom>
          <a:solidFill>
            <a:srgbClr val="89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57250"/>
            <a:ext cx="3840480" cy="189738"/>
          </a:xfrm>
          <a:prstGeom prst="rect">
            <a:avLst/>
          </a:prstGeom>
          <a:solidFill>
            <a:srgbClr val="885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028700"/>
            <a:ext cx="3840480" cy="189738"/>
          </a:xfrm>
          <a:prstGeom prst="rect">
            <a:avLst/>
          </a:prstGeom>
          <a:solidFill>
            <a:srgbClr val="885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1200150"/>
            <a:ext cx="3840480" cy="189738"/>
          </a:xfrm>
          <a:prstGeom prst="rect">
            <a:avLst/>
          </a:prstGeom>
          <a:solidFill>
            <a:srgbClr val="875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371600"/>
            <a:ext cx="3840480" cy="189738"/>
          </a:xfrm>
          <a:prstGeom prst="rect">
            <a:avLst/>
          </a:prstGeom>
          <a:solidFill>
            <a:srgbClr val="875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543050"/>
            <a:ext cx="3840480" cy="189738"/>
          </a:xfrm>
          <a:prstGeom prst="rect">
            <a:avLst/>
          </a:prstGeom>
          <a:solidFill>
            <a:srgbClr val="865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714500"/>
            <a:ext cx="3840480" cy="189738"/>
          </a:xfrm>
          <a:prstGeom prst="rect">
            <a:avLst/>
          </a:prstGeom>
          <a:solidFill>
            <a:srgbClr val="865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885950"/>
            <a:ext cx="3840480" cy="189738"/>
          </a:xfrm>
          <a:prstGeom prst="rect">
            <a:avLst/>
          </a:prstGeom>
          <a:solidFill>
            <a:srgbClr val="855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057400"/>
            <a:ext cx="3840480" cy="189738"/>
          </a:xfrm>
          <a:prstGeom prst="rect">
            <a:avLst/>
          </a:prstGeom>
          <a:solidFill>
            <a:srgbClr val="855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28850"/>
            <a:ext cx="3840480" cy="189738"/>
          </a:xfrm>
          <a:prstGeom prst="rect">
            <a:avLst/>
          </a:prstGeom>
          <a:solidFill>
            <a:srgbClr val="845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2400300"/>
            <a:ext cx="3840480" cy="189738"/>
          </a:xfrm>
          <a:prstGeom prst="rect">
            <a:avLst/>
          </a:prstGeom>
          <a:solidFill>
            <a:srgbClr val="845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2571750"/>
            <a:ext cx="3840480" cy="189738"/>
          </a:xfrm>
          <a:prstGeom prst="rect">
            <a:avLst/>
          </a:prstGeom>
          <a:solidFill>
            <a:srgbClr val="835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3840480" cy="189738"/>
          </a:xfrm>
          <a:prstGeom prst="rect">
            <a:avLst/>
          </a:prstGeom>
          <a:solidFill>
            <a:srgbClr val="835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914650"/>
            <a:ext cx="3840480" cy="189738"/>
          </a:xfrm>
          <a:prstGeom prst="rect">
            <a:avLst/>
          </a:prstGeom>
          <a:solidFill>
            <a:srgbClr val="825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086100"/>
            <a:ext cx="3840480" cy="189738"/>
          </a:xfrm>
          <a:prstGeom prst="rect">
            <a:avLst/>
          </a:prstGeom>
          <a:solidFill>
            <a:srgbClr val="825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3257550"/>
            <a:ext cx="3840480" cy="189738"/>
          </a:xfrm>
          <a:prstGeom prst="rect">
            <a:avLst/>
          </a:prstGeom>
          <a:solidFill>
            <a:srgbClr val="815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3429000"/>
            <a:ext cx="3840480" cy="189738"/>
          </a:xfrm>
          <a:prstGeom prst="rect">
            <a:avLst/>
          </a:prstGeom>
          <a:solidFill>
            <a:srgbClr val="815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00450"/>
            <a:ext cx="3840480" cy="189738"/>
          </a:xfrm>
          <a:prstGeom prst="rect">
            <a:avLst/>
          </a:prstGeom>
          <a:solidFill>
            <a:srgbClr val="805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3771900"/>
            <a:ext cx="3840480" cy="189738"/>
          </a:xfrm>
          <a:prstGeom prst="rect">
            <a:avLst/>
          </a:prstGeom>
          <a:solidFill>
            <a:srgbClr val="80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943350"/>
            <a:ext cx="3840480" cy="189738"/>
          </a:xfrm>
          <a:prstGeom prst="rect">
            <a:avLst/>
          </a:prstGeom>
          <a:solidFill>
            <a:srgbClr val="7F55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114800"/>
            <a:ext cx="3840480" cy="189738"/>
          </a:xfrm>
          <a:prstGeom prst="rect">
            <a:avLst/>
          </a:prstGeom>
          <a:solidFill>
            <a:srgbClr val="7F5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286250"/>
            <a:ext cx="3840480" cy="189738"/>
          </a:xfrm>
          <a:prstGeom prst="rect">
            <a:avLst/>
          </a:prstGeom>
          <a:solidFill>
            <a:srgbClr val="7E54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4457700"/>
            <a:ext cx="3840480" cy="189738"/>
          </a:xfrm>
          <a:prstGeom prst="rect">
            <a:avLst/>
          </a:prstGeom>
          <a:solidFill>
            <a:srgbClr val="7E5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629150"/>
            <a:ext cx="3840480" cy="189738"/>
          </a:xfrm>
          <a:prstGeom prst="rect">
            <a:avLst/>
          </a:prstGeom>
          <a:solidFill>
            <a:srgbClr val="7D5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4800600"/>
            <a:ext cx="3840480" cy="189738"/>
          </a:xfrm>
          <a:prstGeom prst="rect">
            <a:avLst/>
          </a:prstGeom>
          <a:solidFill>
            <a:srgbClr val="7D5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4972050"/>
            <a:ext cx="3840480" cy="189738"/>
          </a:xfrm>
          <a:prstGeom prst="rect">
            <a:avLst/>
          </a:prstGeom>
          <a:solidFill>
            <a:srgbClr val="7C5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5143500"/>
            <a:ext cx="3840480" cy="189738"/>
          </a:xfrm>
          <a:prstGeom prst="rect">
            <a:avLst/>
          </a:prstGeom>
          <a:solidFill>
            <a:srgbClr val="7C5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5314950"/>
            <a:ext cx="3840480" cy="189738"/>
          </a:xfrm>
          <a:prstGeom prst="rect">
            <a:avLst/>
          </a:prstGeom>
          <a:solidFill>
            <a:srgbClr val="7B5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486400"/>
            <a:ext cx="3840480" cy="189738"/>
          </a:xfrm>
          <a:prstGeom prst="rect">
            <a:avLst/>
          </a:prstGeom>
          <a:solidFill>
            <a:srgbClr val="7B5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57850"/>
            <a:ext cx="3840480" cy="189738"/>
          </a:xfrm>
          <a:prstGeom prst="rect">
            <a:avLst/>
          </a:prstGeom>
          <a:solidFill>
            <a:srgbClr val="7A5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5829300"/>
            <a:ext cx="3840480" cy="189738"/>
          </a:xfrm>
          <a:prstGeom prst="rect">
            <a:avLst/>
          </a:prstGeom>
          <a:solidFill>
            <a:srgbClr val="7A51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000750"/>
            <a:ext cx="3840480" cy="189738"/>
          </a:xfrm>
          <a:prstGeom prst="rect">
            <a:avLst/>
          </a:prstGeom>
          <a:solidFill>
            <a:srgbClr val="7951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172200"/>
            <a:ext cx="3840480" cy="189738"/>
          </a:xfrm>
          <a:prstGeom prst="rect">
            <a:avLst/>
          </a:prstGeom>
          <a:solidFill>
            <a:srgbClr val="795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343650"/>
            <a:ext cx="3840480" cy="189738"/>
          </a:xfrm>
          <a:prstGeom prst="rect">
            <a:avLst/>
          </a:prstGeom>
          <a:solidFill>
            <a:srgbClr val="785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15100"/>
            <a:ext cx="3840480" cy="189738"/>
          </a:xfrm>
          <a:prstGeom prst="rect">
            <a:avLst/>
          </a:prstGeom>
          <a:solidFill>
            <a:srgbClr val="7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686550"/>
            <a:ext cx="3840480" cy="189738"/>
          </a:xfrm>
          <a:prstGeom prst="rect">
            <a:avLst/>
          </a:prstGeom>
          <a:solidFill>
            <a:srgbClr val="775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47548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47548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47548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47548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47548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56692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56692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56692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56692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iamond 52"/>
          <p:cNvSpPr/>
          <p:nvPr/>
        </p:nvSpPr>
        <p:spPr>
          <a:xfrm>
            <a:off x="56692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iamond 53"/>
          <p:cNvSpPr/>
          <p:nvPr/>
        </p:nvSpPr>
        <p:spPr>
          <a:xfrm>
            <a:off x="65836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iamond 54"/>
          <p:cNvSpPr/>
          <p:nvPr/>
        </p:nvSpPr>
        <p:spPr>
          <a:xfrm>
            <a:off x="65836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iamond 55"/>
          <p:cNvSpPr/>
          <p:nvPr/>
        </p:nvSpPr>
        <p:spPr>
          <a:xfrm>
            <a:off x="65836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iamond 56"/>
          <p:cNvSpPr/>
          <p:nvPr/>
        </p:nvSpPr>
        <p:spPr>
          <a:xfrm>
            <a:off x="65836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iamond 57"/>
          <p:cNvSpPr/>
          <p:nvPr/>
        </p:nvSpPr>
        <p:spPr>
          <a:xfrm>
            <a:off x="65836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7498079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7498079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iamond 60"/>
          <p:cNvSpPr/>
          <p:nvPr/>
        </p:nvSpPr>
        <p:spPr>
          <a:xfrm>
            <a:off x="7498079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iamond 61"/>
          <p:cNvSpPr/>
          <p:nvPr/>
        </p:nvSpPr>
        <p:spPr>
          <a:xfrm>
            <a:off x="7498079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iamond 62"/>
          <p:cNvSpPr/>
          <p:nvPr/>
        </p:nvSpPr>
        <p:spPr>
          <a:xfrm>
            <a:off x="7498079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84124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iamond 64"/>
          <p:cNvSpPr/>
          <p:nvPr/>
        </p:nvSpPr>
        <p:spPr>
          <a:xfrm>
            <a:off x="84124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iamond 65"/>
          <p:cNvSpPr/>
          <p:nvPr/>
        </p:nvSpPr>
        <p:spPr>
          <a:xfrm>
            <a:off x="84124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iamond 66"/>
          <p:cNvSpPr/>
          <p:nvPr/>
        </p:nvSpPr>
        <p:spPr>
          <a:xfrm>
            <a:off x="84124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84124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iamond 68"/>
          <p:cNvSpPr/>
          <p:nvPr/>
        </p:nvSpPr>
        <p:spPr>
          <a:xfrm>
            <a:off x="93268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93268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93268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93268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93268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iamond 73"/>
          <p:cNvSpPr/>
          <p:nvPr/>
        </p:nvSpPr>
        <p:spPr>
          <a:xfrm>
            <a:off x="102412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iamond 74"/>
          <p:cNvSpPr/>
          <p:nvPr/>
        </p:nvSpPr>
        <p:spPr>
          <a:xfrm>
            <a:off x="102412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102412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iamond 76"/>
          <p:cNvSpPr/>
          <p:nvPr/>
        </p:nvSpPr>
        <p:spPr>
          <a:xfrm>
            <a:off x="102412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iamond 77"/>
          <p:cNvSpPr/>
          <p:nvPr/>
        </p:nvSpPr>
        <p:spPr>
          <a:xfrm>
            <a:off x="102412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iamond 78"/>
          <p:cNvSpPr/>
          <p:nvPr/>
        </p:nvSpPr>
        <p:spPr>
          <a:xfrm>
            <a:off x="11155680" y="73152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iamond 79"/>
          <p:cNvSpPr/>
          <p:nvPr/>
        </p:nvSpPr>
        <p:spPr>
          <a:xfrm>
            <a:off x="11155680" y="192024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iamond 80"/>
          <p:cNvSpPr/>
          <p:nvPr/>
        </p:nvSpPr>
        <p:spPr>
          <a:xfrm>
            <a:off x="11155680" y="310896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iamond 81"/>
          <p:cNvSpPr/>
          <p:nvPr/>
        </p:nvSpPr>
        <p:spPr>
          <a:xfrm>
            <a:off x="11155680" y="429768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iamond 82"/>
          <p:cNvSpPr/>
          <p:nvPr/>
        </p:nvSpPr>
        <p:spPr>
          <a:xfrm>
            <a:off x="11155680" y="5486400"/>
            <a:ext cx="54864" cy="54864"/>
          </a:xfrm>
          <a:prstGeom prst="diamond">
            <a:avLst/>
          </a:prstGeom>
          <a:solidFill>
            <a:srgbClr val="3B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389120" y="457200"/>
            <a:ext cx="7589520" cy="5943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5200" y="1645920"/>
            <a:ext cx="2560320" cy="2560320"/>
          </a:xfrm>
          <a:prstGeom prst="rect">
            <a:avLst/>
          </a:prstGeom>
          <a:solidFill>
            <a:srgbClr val="2D3E50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1520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</a:rPr>
              <a:t>Snapdragon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2240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X Elite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4B5FD"/>
                </a:solidFill>
              </a:rPr>
              <a:t>Hexagon NPU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15200" y="2926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</a:rPr>
              <a:t>45+ TOPS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0" y="3291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on-device AI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63440" y="4846320"/>
            <a:ext cx="1920240" cy="1188720"/>
          </a:xfrm>
          <a:prstGeom prst="rect">
            <a:avLst/>
          </a:prstGeom>
          <a:solidFill>
            <a:srgbClr val="2D3E50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63440" y="495604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Voice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63440" y="52852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5CF6"/>
                </a:solidFill>
              </a:rPr>
              <a:t>~180ms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63440" y="57150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NPU latency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903720" y="4846320"/>
            <a:ext cx="1920240" cy="1188720"/>
          </a:xfrm>
          <a:prstGeom prst="rect">
            <a:avLst/>
          </a:prstGeom>
          <a:solidFill>
            <a:srgbClr val="2D3E5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903720" y="495604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Vision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03720" y="52852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</a:rPr>
              <a:t>~45ms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03720" y="57150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NPU latency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144000" y="4846320"/>
            <a:ext cx="1920240" cy="1188720"/>
          </a:xfrm>
          <a:prstGeom prst="rect">
            <a:avLst/>
          </a:prstGeom>
          <a:solidFill>
            <a:srgbClr val="2D3E5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4000" y="495604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Text AI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0" y="52852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~320ms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0" y="57150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NPU latency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6032" y="8229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B5FD"/>
                </a:solidFill>
              </a:rPr>
              <a:t>SNAPDRAGON AI LAB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1168" y="118872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SnapSense
AI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" y="2926080"/>
            <a:ext cx="2286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01168" y="306324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On-Device Multimodal
AI for Snapdragon HP PCs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168" y="42519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Himanshu Yadav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1168" y="461772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3C5FD"/>
                </a:solidFill>
              </a:rPr>
              <a:t>github.com/HimanshuYadav5998/Snapdragon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82880" y="63276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Snapdragon AI Lab Build &amp; Present Challenge  |  Qualcomm x Unstop  |  2026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77272" y="632764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C4B5FD"/>
                </a:solidFill>
              </a:rPr>
              <a:t>HP OmniBook Ultra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We'll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97280"/>
            <a:ext cx="548640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097280"/>
            <a:ext cx="502920" cy="1508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0F1A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2801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17556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Why existing AI fails on Snapdragon PCs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34639"/>
            <a:ext cx="548640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834639"/>
            <a:ext cx="502920" cy="1508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291839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0F1A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01751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SnapSense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493007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Our on-device multimodal AI 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572000"/>
            <a:ext cx="548640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572000"/>
            <a:ext cx="502920" cy="1508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02920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0F1A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52303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Models, stack, Qualcomm AI Hub integration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1097280"/>
            <a:ext cx="548640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10528" y="1097280"/>
            <a:ext cx="502920" cy="1508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155448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0F1A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12801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17556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Voice, Vision, and Text AI in 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2834639"/>
            <a:ext cx="548640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10528" y="2834639"/>
            <a:ext cx="502920" cy="1508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291839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0F1A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301751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3493007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6x-14x speedup benchmarks on Snapdragon X Elite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0528" y="4572000"/>
            <a:ext cx="548640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10528" y="4572000"/>
            <a:ext cx="50292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502920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0F1A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Impact &amp; Roadmap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52303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Use cases, future milestones, call to 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AI assistants are cloud-dependent, slow, and privacy-invasive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234440"/>
            <a:ext cx="4114800" cy="521208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73736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8B5CF6"/>
                </a:solidFill>
              </a:rPr>
              <a:t>45+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2461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2E8F0"/>
                </a:solidFill>
              </a:rPr>
              <a:t>TOPS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74903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Snapdragon X Elite NPU
peak performance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4617720"/>
            <a:ext cx="22860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4709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F4444"/>
                </a:solidFill>
              </a:rPr>
              <a:t>...sitting completely idle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5120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with existing AI apps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261872"/>
            <a:ext cx="457200" cy="10058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8191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70432" y="1261872"/>
            <a:ext cx="640080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67728" y="158191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61848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3502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Cloud Round-trips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Every AI query leaves your device — avg. 800ms latency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542032"/>
            <a:ext cx="457200" cy="10058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86207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0432" y="2542032"/>
            <a:ext cx="640080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67728" y="2862072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2898648"/>
            <a:ext cx="1133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Critical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261518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Privacy Breach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Voice &amp; images sent to remote servers permanently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822191"/>
            <a:ext cx="45720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142231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70432" y="3822191"/>
            <a:ext cx="640080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67728" y="4142231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4178807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3895343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No Offline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29767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Completely non-functional without internet connection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102351"/>
            <a:ext cx="457200" cy="1005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422391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70432" y="5102351"/>
            <a:ext cx="640080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67728" y="5422391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0" y="5458967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Medium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5175503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Battery Drain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5778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Constant network I/O reduces battery life by ~35%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Introducing SnapSense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100% on-device · 100% private · Snapdragon NPU accelerated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170432"/>
            <a:ext cx="10863072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234440"/>
            <a:ext cx="10680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B5FD"/>
                </a:solidFill>
              </a:rPr>
              <a:t>The first multimodal AI assistant purpose-built for Snapdragon Hexagon NPU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993392"/>
            <a:ext cx="3520440" cy="443484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93392"/>
            <a:ext cx="352044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1168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90F1A"/>
                </a:solidFill>
              </a:rPr>
              <a:t>Voice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78608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Whisper-Base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3200400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3236976"/>
            <a:ext cx="1133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INT8 NPU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118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Speech-to-Text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8B5CF6"/>
                </a:solidFill>
              </a:rPr>
              <a:t>~180ms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avg latency on NPU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709160"/>
            <a:ext cx="10972800" cy="1097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822960" y="4846320"/>
            <a:ext cx="109728" cy="109728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7731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Real-time mic capture</a:t>
            </a:r>
          </a:p>
        </p:txBody>
      </p:sp>
      <p:sp>
        <p:nvSpPr>
          <p:cNvPr id="22" name="Diamond 21"/>
          <p:cNvSpPr/>
          <p:nvPr/>
        </p:nvSpPr>
        <p:spPr>
          <a:xfrm>
            <a:off x="822960" y="5212080"/>
            <a:ext cx="109728" cy="109728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513892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16kHz audio pipeline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822960" y="5577840"/>
            <a:ext cx="109728" cy="109728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50468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on-device ASR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7" y="1993392"/>
            <a:ext cx="3520440" cy="443484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07407" y="1993392"/>
            <a:ext cx="352044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7407" y="201168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90F1A"/>
                </a:solidFill>
              </a:rPr>
              <a:t>Vision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2578608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MobileNet-V3
+ CLIP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30367" y="3200400"/>
            <a:ext cx="1819656" cy="29260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19" y="3236976"/>
            <a:ext cx="1728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INT8/FP16 NPU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6118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Image Understanding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93192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</a:rPr>
              <a:t>~45ms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avg latency on NPU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709160"/>
            <a:ext cx="10972800" cy="1097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4571999" y="4846320"/>
            <a:ext cx="109728" cy="109728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7" y="47731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1000-class classification</a:t>
            </a:r>
          </a:p>
        </p:txBody>
      </p:sp>
      <p:sp>
        <p:nvSpPr>
          <p:cNvPr id="38" name="Diamond 37"/>
          <p:cNvSpPr/>
          <p:nvPr/>
        </p:nvSpPr>
        <p:spPr>
          <a:xfrm>
            <a:off x="4571999" y="5212080"/>
            <a:ext cx="109728" cy="109728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7" y="513892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Zero-shot captioning</a:t>
            </a:r>
          </a:p>
        </p:txBody>
      </p:sp>
      <p:sp>
        <p:nvSpPr>
          <p:cNvPr id="40" name="Diamond 39"/>
          <p:cNvSpPr/>
          <p:nvPr/>
        </p:nvSpPr>
        <p:spPr>
          <a:xfrm>
            <a:off x="4571999" y="5577840"/>
            <a:ext cx="109728" cy="109728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7" y="550468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CLIP embeddings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56448" y="1993392"/>
            <a:ext cx="3520440" cy="44348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56448" y="1993392"/>
            <a:ext cx="352044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6448" y="201168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90F1A"/>
                </a:solidFill>
              </a:rPr>
              <a:t>Text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56448" y="2578608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Mistral-7B
Instruct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79408" y="3200400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52560" y="3236976"/>
            <a:ext cx="1133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90F1A"/>
                </a:solidFill>
              </a:rPr>
              <a:t>INT4 NPU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56448" y="36118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Q&amp;A / Summarize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56448" y="393192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</a:rPr>
              <a:t>~320ms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56448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avg latency on NPU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4709160"/>
            <a:ext cx="10972800" cy="10972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8321040" y="4846320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22208" y="47731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4096 token context</a:t>
            </a:r>
          </a:p>
        </p:txBody>
      </p:sp>
      <p:sp>
        <p:nvSpPr>
          <p:cNvPr id="54" name="Diamond 53"/>
          <p:cNvSpPr/>
          <p:nvPr/>
        </p:nvSpPr>
        <p:spPr>
          <a:xfrm>
            <a:off x="8321040" y="5212080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22208" y="513892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INT4 quantized</a:t>
            </a:r>
          </a:p>
        </p:txBody>
      </p:sp>
      <p:sp>
        <p:nvSpPr>
          <p:cNvPr id="56" name="Diamond 55"/>
          <p:cNvSpPr/>
          <p:nvPr/>
        </p:nvSpPr>
        <p:spPr>
          <a:xfrm>
            <a:off x="8321040" y="5577840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22208" y="550468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Mistral instruct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6446520"/>
            <a:ext cx="10863072" cy="301752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6473952"/>
            <a:ext cx="10680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All models sourced from Qualcomm AI Hub — compiled and optimized for Snapdragon Hexagon NPU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On-device AI pipeline — data never leaves your HP PC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34440"/>
            <a:ext cx="4937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28016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63677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Voice / Image / 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2011680"/>
            <a:ext cx="36576" cy="2468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258568"/>
            <a:ext cx="4937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30428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3C5FD"/>
                </a:solidFill>
              </a:rPr>
              <a:t>Python 3.11 ARM64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66090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Preprocessing &amp; routing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0" y="3035808"/>
            <a:ext cx="36576" cy="2468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282696"/>
            <a:ext cx="4937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32841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4B5FD"/>
                </a:solidFill>
              </a:rPr>
              <a:t>Qualcomm AI Hub 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685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qai_hub + ONNX QNN 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0" y="4059936"/>
            <a:ext cx="36576" cy="2468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4306824"/>
            <a:ext cx="4937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352544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EE7B7"/>
                </a:solidFill>
              </a:rPr>
              <a:t>Snapdragon Hexagon NPU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7091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45+ TOPS peak inference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0" y="5084064"/>
            <a:ext cx="36576" cy="2468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330952"/>
            <a:ext cx="493776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3766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On-Device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73328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&lt; 400ms total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1234440"/>
            <a:ext cx="585216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Privacy Guarantee</a:t>
            </a:r>
          </a:p>
        </p:txBody>
      </p:sp>
      <p:sp>
        <p:nvSpPr>
          <p:cNvPr id="29" name="Diamond 28"/>
          <p:cNvSpPr/>
          <p:nvPr/>
        </p:nvSpPr>
        <p:spPr>
          <a:xfrm>
            <a:off x="6217920" y="1801368"/>
            <a:ext cx="91440" cy="9144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Zero network calls during inference</a:t>
            </a:r>
          </a:p>
        </p:txBody>
      </p:sp>
      <p:sp>
        <p:nvSpPr>
          <p:cNvPr id="31" name="Diamond 30"/>
          <p:cNvSpPr/>
          <p:nvPr/>
        </p:nvSpPr>
        <p:spPr>
          <a:xfrm>
            <a:off x="6217920" y="2121408"/>
            <a:ext cx="91440" cy="9144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0756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No telemetry or usage tracking</a:t>
            </a:r>
          </a:p>
        </p:txBody>
      </p:sp>
      <p:sp>
        <p:nvSpPr>
          <p:cNvPr id="33" name="Diamond 32"/>
          <p:cNvSpPr/>
          <p:nvPr/>
        </p:nvSpPr>
        <p:spPr>
          <a:xfrm>
            <a:off x="6217920" y="2441448"/>
            <a:ext cx="91440" cy="9144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3957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Models cached locally post-download</a:t>
            </a:r>
          </a:p>
        </p:txBody>
      </p:sp>
      <p:sp>
        <p:nvSpPr>
          <p:cNvPr id="35" name="Diamond 34"/>
          <p:cNvSpPr/>
          <p:nvPr/>
        </p:nvSpPr>
        <p:spPr>
          <a:xfrm>
            <a:off x="6217920" y="2761487"/>
            <a:ext cx="91440" cy="9144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7157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Fully offline after initial setup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474720"/>
            <a:ext cx="5852160" cy="2971800"/>
          </a:xfrm>
          <a:prstGeom prst="rect">
            <a:avLst/>
          </a:prstGeom>
          <a:solidFill>
            <a:srgbClr val="0D1727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72200" y="35661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3602736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3C5FD"/>
                </a:solidFill>
              </a:rPr>
              <a:t>Python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8587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3C5FD"/>
                </a:solidFill>
              </a:rPr>
              <a:t># NPU inference via Qualcomm AI Hub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123944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import qai_hub as hub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3891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from qai_hub_models.models.whisper_base_en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654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    import Model as WhisperModel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9632" y="49194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518464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model = WhisperModel.from_pretrained()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5449823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3C5FD"/>
                </a:solidFill>
              </a:rPr>
              <a:t># Compiled for Snapdragon Hexagon NPU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9632" y="57150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result = model.transcribe(audio_16khz)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9632" y="598017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3C5FD"/>
                </a:solidFill>
              </a:rPr>
              <a:t># -&gt; runs on NPU, 0 cloud calls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Three AI modes — all running on Snapdragon Hexagon NPU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657600" cy="525780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365760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90F1A"/>
                </a:solidFill>
              </a:rPr>
              <a:t>Mode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813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90F1A"/>
                </a:solidFill>
              </a:rPr>
              <a:t>Voice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" y="1993392"/>
            <a:ext cx="292608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00253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0299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Click Start Recording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" y="2560320"/>
            <a:ext cx="292608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69464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596896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Speak your query aloud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" y="3127248"/>
            <a:ext cx="292608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136392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163824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Transcription in ~180ms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" y="3694176"/>
            <a:ext cx="292608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03320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730752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Powered by Whisper INT8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" y="4370832"/>
            <a:ext cx="3438144" cy="59436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434840"/>
            <a:ext cx="34381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</a:rPr>
              <a:t>Speech  -&gt;  On-Device Whisper  -&gt;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5029200"/>
            <a:ext cx="34381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No cloud. No API key. No latency.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7" y="1234440"/>
            <a:ext cx="3657600" cy="52578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7407" y="1234440"/>
            <a:ext cx="365760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5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90F1A"/>
                </a:solidFill>
              </a:rPr>
              <a:t>Mode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14813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90F1A"/>
                </a:solidFill>
              </a:rPr>
              <a:t>Vision AI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7135" y="1993392"/>
            <a:ext cx="292608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17135" y="200253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0327" y="20299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Upload or drag-drop image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7135" y="2560320"/>
            <a:ext cx="292608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5" y="2569464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0327" y="2596896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Click Analyze Image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7135" y="3127248"/>
            <a:ext cx="292608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5" y="3136392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10327" y="3163824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Classification in ~45ms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5" y="3694176"/>
            <a:ext cx="292608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5" y="3703320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0327" y="3730752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Zero-shot caption via CLIP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17135" y="4370832"/>
            <a:ext cx="3438144" cy="59436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17135" y="4434840"/>
            <a:ext cx="34381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B82F6"/>
                </a:solidFill>
              </a:rPr>
              <a:t>Image  -&gt;  MobileNet + CLIP  -&gt;  Labels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17135" y="5029200"/>
            <a:ext cx="34381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1000 ImageNet classes. No internet.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11896" y="1234440"/>
            <a:ext cx="3657600" cy="52578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11896" y="1234440"/>
            <a:ext cx="365760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21624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90F1A"/>
                </a:solidFill>
              </a:rPr>
              <a:t>Mode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1896" y="14813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90F1A"/>
                </a:solidFill>
              </a:rPr>
              <a:t>Text AI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21624" y="1993392"/>
            <a:ext cx="292608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21624" y="200253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14816" y="20299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Paste text or type question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21624" y="2560320"/>
            <a:ext cx="292608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21624" y="2569464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14816" y="2596896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Select Summarize or Q&amp;A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3127248"/>
            <a:ext cx="292608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21624" y="3136392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14816" y="3163824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Response in ~320ms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21624" y="3694176"/>
            <a:ext cx="292608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21624" y="3703320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F1A"/>
                </a:solidFill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14816" y="3730752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Mistral-7B INT4 on NPU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21624" y="4370832"/>
            <a:ext cx="3438144" cy="59436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21624" y="4434840"/>
            <a:ext cx="34381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</a:rPr>
              <a:t>Text  -&gt;  Mistral-7B INT4  -&gt;  Answer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1624" y="5029200"/>
            <a:ext cx="34381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4096 token context. Fully private.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6492240"/>
            <a:ext cx="11155680" cy="256032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" y="651052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</a:rPr>
              <a:t>Run: python src/app.py  -&gt;  Open http://localhost:7860  -&gt;  Demo starts immediately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Performance Benchmarks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Measured on HP OmniBook Ultra — Snapdragon X2 Plus NPU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344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Latency Comparison (ms) — Lower is Better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</a:rPr>
              <a:t>ASR 5s audio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737360"/>
            <a:ext cx="1219200" cy="614842"/>
          </a:xfrm>
          <a:prstGeom prst="rect">
            <a:avLst/>
          </a:prstGeom>
          <a:solidFill>
            <a:srgbClr val="2D3E50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1737360"/>
            <a:ext cx="1219200" cy="61484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6912" y="1737360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CPU: 1200ms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427183"/>
            <a:ext cx="182880" cy="61484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2427183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NPU: 180ms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47688" y="1874520"/>
            <a:ext cx="914400" cy="47548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1892808"/>
            <a:ext cx="914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6.7x faster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511296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</a:rPr>
              <a:t>Image Class.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3511296"/>
            <a:ext cx="386080" cy="614842"/>
          </a:xfrm>
          <a:prstGeom prst="rect">
            <a:avLst/>
          </a:prstGeom>
          <a:solidFill>
            <a:srgbClr val="2D3E50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94560" y="3511296"/>
            <a:ext cx="386080" cy="61484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3792" y="3511296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CPU: 380ms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4201119"/>
            <a:ext cx="45720" cy="61484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13432" y="4201119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NPU: 45ms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47688" y="3648456"/>
            <a:ext cx="914400" cy="47548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3666744"/>
            <a:ext cx="914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8.4x faster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85232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</a:rPr>
              <a:t>Text Q&amp;A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5285232"/>
            <a:ext cx="4572000" cy="614842"/>
          </a:xfrm>
          <a:prstGeom prst="rect">
            <a:avLst/>
          </a:prstGeom>
          <a:solidFill>
            <a:srgbClr val="2D3E50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94560" y="5285232"/>
            <a:ext cx="4572000" cy="61484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9712" y="5285232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CPU: 4500ms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94560" y="5975055"/>
            <a:ext cx="325120" cy="61484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92832" y="5975055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NPU: 320ms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47688" y="5422392"/>
            <a:ext cx="914400" cy="47548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7688" y="5440680"/>
            <a:ext cx="914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14x faster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7059168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</a:rPr>
              <a:t>Image Caption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94560" y="7059168"/>
            <a:ext cx="629920" cy="614842"/>
          </a:xfrm>
          <a:prstGeom prst="rect">
            <a:avLst/>
          </a:prstGeom>
          <a:solidFill>
            <a:srgbClr val="2D3E50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94560" y="7059168"/>
            <a:ext cx="629920" cy="61484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97632" y="7059168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CPU: 620ms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7748991"/>
            <a:ext cx="81280" cy="61484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48992" y="7748991"/>
            <a:ext cx="1371600" cy="61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NPU: 80ms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47688" y="7196328"/>
            <a:ext cx="914400" cy="47548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7214616"/>
            <a:ext cx="914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7.8x faster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79" y="1234440"/>
            <a:ext cx="4389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1234440"/>
            <a:ext cx="45720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13075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8B5CF6"/>
                </a:solidFill>
              </a:rPr>
              <a:t>6.7x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ASR Speedup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21488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Voice recognition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2606040"/>
            <a:ext cx="4389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2606040"/>
            <a:ext cx="457200" cy="1188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2679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B82F6"/>
                </a:solidFill>
              </a:rPr>
              <a:t>8.4x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3246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Vision Speedup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3520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Image classification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98079" y="3977639"/>
            <a:ext cx="4389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79" y="3977639"/>
            <a:ext cx="45720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46720" y="4050791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0B981"/>
                </a:solidFill>
              </a:rPr>
              <a:t>14x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461771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Text Speedup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48920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LLM generation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79" y="5349240"/>
            <a:ext cx="4389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5349240"/>
            <a:ext cx="457200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20" y="54223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6B6D4"/>
                </a:solidFill>
              </a:rPr>
              <a:t>60%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0" y="5989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Power Saved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0" y="62636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vs CPU inference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Your data never leaves your HP OmniBook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34440"/>
            <a:ext cx="2926080" cy="621792"/>
          </a:xfrm>
          <a:prstGeom prst="rect">
            <a:avLst/>
          </a:prstGeom>
          <a:solidFill>
            <a:srgbClr val="1E293B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4416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584448" y="1234440"/>
            <a:ext cx="3931920" cy="621792"/>
          </a:xfrm>
          <a:prstGeom prst="rect">
            <a:avLst/>
          </a:prstGeom>
          <a:solidFill>
            <a:srgbClr val="1642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1344168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B981"/>
                </a:solidFill>
              </a:rPr>
              <a:t>SnapSense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8" y="1234440"/>
            <a:ext cx="3931920" cy="621792"/>
          </a:xfrm>
          <a:prstGeom prst="rect">
            <a:avLst/>
          </a:prstGeom>
          <a:solidFill>
            <a:srgbClr val="3B1A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1344168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F4444"/>
                </a:solidFill>
              </a:rPr>
              <a:t>Cloud AI (GPT-4, etc.)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856232"/>
            <a:ext cx="292608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8424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Inference Location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1856232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1984248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On-device NPU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6368" y="1856232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7808" y="1984248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Remote cloud servers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78024"/>
            <a:ext cx="292608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606040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Data Sent to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4448" y="2478024"/>
            <a:ext cx="393192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75888" y="2606040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None — ever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16368" y="2478024"/>
            <a:ext cx="393192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07808" y="2606040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All audio, images, 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099816"/>
            <a:ext cx="292608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227832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Internet Required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8" y="3099816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5888" y="3227832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No (offline-first)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3099816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07808" y="3227832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Always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721608"/>
            <a:ext cx="292608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849624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Response Latency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4448" y="3721608"/>
            <a:ext cx="393192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5888" y="3849624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&lt; 200ms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16368" y="3721608"/>
            <a:ext cx="393192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07808" y="3849624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500ms to 2+ seconds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343400"/>
            <a:ext cx="292608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471416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Conversation Logging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84448" y="4343400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75888" y="4471416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Disabled by design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4343400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07808" y="4471416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Logged for training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965192"/>
            <a:ext cx="292608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509320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GDPR / Data Residency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84448" y="4965192"/>
            <a:ext cx="393192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75888" y="5093208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Fully compliant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16368" y="4965192"/>
            <a:ext cx="3931920" cy="621792"/>
          </a:xfrm>
          <a:prstGeom prst="rect">
            <a:avLst/>
          </a:prstGeom>
          <a:solidFill>
            <a:srgbClr val="2D3E50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07808" y="5093208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Complex compliance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5586984"/>
            <a:ext cx="292608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5715000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Works in Restricted Env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84448" y="5586984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75888" y="5715000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Yes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16368" y="5586984"/>
            <a:ext cx="3931920" cy="6217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07808" y="5715000"/>
            <a:ext cx="38404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CA5A5"/>
                </a:solidFill>
              </a:rPr>
              <a:t>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Real-World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SnapSense AI solves real problems for real people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34440"/>
            <a:ext cx="3547872" cy="530352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234440"/>
            <a:ext cx="3547872" cy="5669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280160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90F1A"/>
                </a:solidFill>
              </a:rPr>
              <a:t>Students &amp; Academics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2011680"/>
            <a:ext cx="411480" cy="41148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99339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Transcribe 1-hour lecture in ~3 minutes offline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2900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14400" y="3520440"/>
            <a:ext cx="411480" cy="41148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50215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Summarize 50-page paper into 5 bullet points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93776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914400" y="5029200"/>
            <a:ext cx="411480" cy="41148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501091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Q&amp;A on study material without internet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1234440"/>
            <a:ext cx="3547872" cy="53035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0288" y="1234440"/>
            <a:ext cx="3547872" cy="5669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1280160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90F1A"/>
                </a:solidFill>
              </a:rPr>
              <a:t>Enterprise &amp; Professionals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92024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4846320" y="2011680"/>
            <a:ext cx="411480" cy="41148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20116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199339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Summarize confidential docs — zero data leak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42900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846320" y="3520440"/>
            <a:ext cx="411480" cy="41148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3520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0096" y="350215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Meeting transcription without cloud subscription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493776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4846320" y="5029200"/>
            <a:ext cx="411480" cy="41148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0" y="5029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0096" y="501091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Offline image classification for field work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22208" y="1234440"/>
            <a:ext cx="3547872" cy="53035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22208" y="1234440"/>
            <a:ext cx="3547872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8" y="1280160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90F1A"/>
                </a:solidFill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192024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78240" y="2011680"/>
            <a:ext cx="411480" cy="41148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20116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72016" y="199339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Real-time voice-to-text for motor impairments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0" y="342900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8778240" y="3520440"/>
            <a:ext cx="411480" cy="41148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3520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72016" y="350215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Image description for visually impaired users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4937760"/>
            <a:ext cx="3218688" cy="1234440"/>
          </a:xfrm>
          <a:prstGeom prst="rect">
            <a:avLst/>
          </a:prstGeom>
          <a:solidFill>
            <a:srgbClr val="2D3E5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8778240" y="5029200"/>
            <a:ext cx="411480" cy="411480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78240" y="5029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90F1A"/>
                </a:solidFill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72016" y="5010912"/>
            <a:ext cx="254203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Offline AI assistant in low-connectivity areas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6446520"/>
            <a:ext cx="10863072" cy="320040"/>
          </a:xfrm>
          <a:prstGeom prst="rect">
            <a:avLst/>
          </a:prstGeom>
          <a:solidFill>
            <a:srgbClr val="1E293B"/>
          </a:solidFill>
          <a:ln w="63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6483096"/>
            <a:ext cx="10680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Target market: 400M+ Snapdragon-powered Windows PCs globally by 2027  |  On-device AI TAM: $28B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From MVP to production-ready Snapdragon AI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46120"/>
            <a:ext cx="10863072" cy="4572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1892808" y="3090672"/>
            <a:ext cx="329184" cy="329184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4015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1246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MVP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2423160" cy="2240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859536" y="4325112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2519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Voice ASR NPU</a:t>
            </a:r>
          </a:p>
        </p:txBody>
      </p:sp>
      <p:sp>
        <p:nvSpPr>
          <p:cNvPr id="15" name="Diamond 14"/>
          <p:cNvSpPr/>
          <p:nvPr/>
        </p:nvSpPr>
        <p:spPr>
          <a:xfrm>
            <a:off x="859536" y="4828032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75488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Image AI NPU</a:t>
            </a:r>
          </a:p>
        </p:txBody>
      </p:sp>
      <p:sp>
        <p:nvSpPr>
          <p:cNvPr id="17" name="Diamond 16"/>
          <p:cNvSpPr/>
          <p:nvPr/>
        </p:nvSpPr>
        <p:spPr>
          <a:xfrm>
            <a:off x="859536" y="5330952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525780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Text AI NPU</a:t>
            </a:r>
          </a:p>
        </p:txBody>
      </p:sp>
      <p:sp>
        <p:nvSpPr>
          <p:cNvPr id="19" name="Diamond 18"/>
          <p:cNvSpPr/>
          <p:nvPr/>
        </p:nvSpPr>
        <p:spPr>
          <a:xfrm>
            <a:off x="859536" y="5833872"/>
            <a:ext cx="109728" cy="109728"/>
          </a:xfrm>
          <a:prstGeom prst="diamond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5760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Gradio 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93392" y="3255264"/>
            <a:ext cx="36576" cy="859536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4636008" y="3090672"/>
            <a:ext cx="329184" cy="329184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4015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B82F6"/>
                </a:solidFill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371246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v1.0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1234440"/>
            <a:ext cx="2423160" cy="2240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3602736" y="1444752"/>
            <a:ext cx="109728" cy="109728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03904" y="137160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Multi-modal chaining</a:t>
            </a:r>
          </a:p>
        </p:txBody>
      </p:sp>
      <p:sp>
        <p:nvSpPr>
          <p:cNvPr id="28" name="Diamond 27"/>
          <p:cNvSpPr/>
          <p:nvPr/>
        </p:nvSpPr>
        <p:spPr>
          <a:xfrm>
            <a:off x="3602736" y="1947672"/>
            <a:ext cx="109728" cy="109728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03904" y="18745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Real-time translation</a:t>
            </a:r>
          </a:p>
        </p:txBody>
      </p:sp>
      <p:sp>
        <p:nvSpPr>
          <p:cNvPr id="30" name="Diamond 29"/>
          <p:cNvSpPr/>
          <p:nvPr/>
        </p:nvSpPr>
        <p:spPr>
          <a:xfrm>
            <a:off x="3602736" y="2450592"/>
            <a:ext cx="109728" cy="109728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3904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Native app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697480"/>
            <a:ext cx="36576" cy="54864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379208" y="3090672"/>
            <a:ext cx="329184" cy="329184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015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5CF6"/>
                </a:solidFill>
              </a:rPr>
              <a:t>Q1 2027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71246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v2.0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114800"/>
            <a:ext cx="2423160" cy="224028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345936" y="4325112"/>
            <a:ext cx="109728" cy="109728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47104" y="42519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Snap Camera feed</a:t>
            </a:r>
          </a:p>
        </p:txBody>
      </p:sp>
      <p:sp>
        <p:nvSpPr>
          <p:cNvPr id="39" name="Diamond 38"/>
          <p:cNvSpPr/>
          <p:nvPr/>
        </p:nvSpPr>
        <p:spPr>
          <a:xfrm>
            <a:off x="6345936" y="4828032"/>
            <a:ext cx="109728" cy="109728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75488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Edge fine-tuning</a:t>
            </a:r>
          </a:p>
        </p:txBody>
      </p:sp>
      <p:sp>
        <p:nvSpPr>
          <p:cNvPr id="41" name="Diamond 40"/>
          <p:cNvSpPr/>
          <p:nvPr/>
        </p:nvSpPr>
        <p:spPr>
          <a:xfrm>
            <a:off x="6345936" y="5330952"/>
            <a:ext cx="109728" cy="109728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7104" y="525780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Enterprise API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9792" y="3255264"/>
            <a:ext cx="36576" cy="859536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10122408" y="3090672"/>
            <a:ext cx="329184" cy="329184"/>
          </a:xfrm>
          <a:prstGeom prst="diamond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87968" y="34015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97316"/>
                </a:solidFill>
              </a:rPr>
              <a:t>Q2 2027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87968" y="371246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v3.0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120" y="1234440"/>
            <a:ext cx="2423160" cy="224028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9089136" y="1444752"/>
            <a:ext cx="109728" cy="109728"/>
          </a:xfrm>
          <a:prstGeom prst="diamond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90304" y="137160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Qualcomm AI Hub marketplace</a:t>
            </a:r>
          </a:p>
        </p:txBody>
      </p:sp>
      <p:sp>
        <p:nvSpPr>
          <p:cNvPr id="50" name="Diamond 49"/>
          <p:cNvSpPr/>
          <p:nvPr/>
        </p:nvSpPr>
        <p:spPr>
          <a:xfrm>
            <a:off x="9089136" y="1947672"/>
            <a:ext cx="109728" cy="109728"/>
          </a:xfrm>
          <a:prstGeom prst="diamond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0304" y="18745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Multi-language</a:t>
            </a:r>
          </a:p>
        </p:txBody>
      </p:sp>
      <p:sp>
        <p:nvSpPr>
          <p:cNvPr id="52" name="Diamond 51"/>
          <p:cNvSpPr/>
          <p:nvPr/>
        </p:nvSpPr>
        <p:spPr>
          <a:xfrm>
            <a:off x="9089136" y="2450592"/>
            <a:ext cx="109728" cy="109728"/>
          </a:xfrm>
          <a:prstGeom prst="diamond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90304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SDK release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222992" y="2697480"/>
            <a:ext cx="36576" cy="548640"/>
          </a:xfrm>
          <a:prstGeom prst="rect">
            <a:avLst/>
          </a:prstGeom>
          <a:solidFill>
            <a:srgbClr val="2D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182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972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32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4A3B8"/>
                </a:solidFill>
              </a:rPr>
              <a:t>Battle-tested tools, optimized for Snapdragon ARM64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</a:rPr>
              <a:t>AI /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66420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556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5CF6"/>
                </a:solidFill>
              </a:rPr>
              <a:t>Qualcomm AI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167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NPU model compilation &amp; deployment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9864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29900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5CF6"/>
                </a:solidFill>
              </a:rPr>
              <a:t>ONNX Runtime (QNN)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4015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Snapdragon QNN Execution Provider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3308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2245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</a:rPr>
              <a:t>llama-cpp-python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636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GGUF INT4 LLM inference (fallback)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</a:rPr>
              <a:t>Audio / Vision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66420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17556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sounddevice + scipy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167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Microphone capture, 16kHz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89864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9900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Pillow + OpenCV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4015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Image I/O and preprocessing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413308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42245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torchaudio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636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Audio transforms and resampling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</a:rPr>
              <a:t>UI / Runtime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85632" y="166420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22792" y="17556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Gradio 4.x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2792" y="2167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Web UI at localhost:7860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85632" y="289864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2792" y="29900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Python 3.11 ARM64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2792" y="34015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Native ARM64, no emulation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85632" y="4133088"/>
            <a:ext cx="3657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22792" y="42245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Rich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22792" y="4636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CLI output and progress display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669280"/>
            <a:ext cx="10863072" cy="100584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742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035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HP OmniBook Ultra (Snapdragon X2 Plus)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5742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6035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Windows 11 ARM64 24H2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5742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NPU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6035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Qualcomm Hexagon NPU (45+ TOPS)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57424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RAM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6035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16GB LPDDR5X minimum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9144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9144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9144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9144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9144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144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9144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9144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18288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18288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8288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8288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288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18288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18288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18288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27432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27432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27432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27432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27432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27432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27432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27432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36576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36576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36576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36576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36576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36576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36576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36576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45720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45720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45720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45720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45720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45720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45720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45720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54864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54864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iamond 52"/>
          <p:cNvSpPr/>
          <p:nvPr/>
        </p:nvSpPr>
        <p:spPr>
          <a:xfrm>
            <a:off x="54864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iamond 53"/>
          <p:cNvSpPr/>
          <p:nvPr/>
        </p:nvSpPr>
        <p:spPr>
          <a:xfrm>
            <a:off x="54864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iamond 54"/>
          <p:cNvSpPr/>
          <p:nvPr/>
        </p:nvSpPr>
        <p:spPr>
          <a:xfrm>
            <a:off x="54864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iamond 55"/>
          <p:cNvSpPr/>
          <p:nvPr/>
        </p:nvSpPr>
        <p:spPr>
          <a:xfrm>
            <a:off x="54864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iamond 56"/>
          <p:cNvSpPr/>
          <p:nvPr/>
        </p:nvSpPr>
        <p:spPr>
          <a:xfrm>
            <a:off x="54864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iamond 57"/>
          <p:cNvSpPr/>
          <p:nvPr/>
        </p:nvSpPr>
        <p:spPr>
          <a:xfrm>
            <a:off x="54864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64008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64008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iamond 60"/>
          <p:cNvSpPr/>
          <p:nvPr/>
        </p:nvSpPr>
        <p:spPr>
          <a:xfrm>
            <a:off x="64008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iamond 61"/>
          <p:cNvSpPr/>
          <p:nvPr/>
        </p:nvSpPr>
        <p:spPr>
          <a:xfrm>
            <a:off x="64008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iamond 62"/>
          <p:cNvSpPr/>
          <p:nvPr/>
        </p:nvSpPr>
        <p:spPr>
          <a:xfrm>
            <a:off x="64008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64008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iamond 64"/>
          <p:cNvSpPr/>
          <p:nvPr/>
        </p:nvSpPr>
        <p:spPr>
          <a:xfrm>
            <a:off x="64008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iamond 65"/>
          <p:cNvSpPr/>
          <p:nvPr/>
        </p:nvSpPr>
        <p:spPr>
          <a:xfrm>
            <a:off x="64008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iamond 66"/>
          <p:cNvSpPr/>
          <p:nvPr/>
        </p:nvSpPr>
        <p:spPr>
          <a:xfrm>
            <a:off x="73152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73152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iamond 68"/>
          <p:cNvSpPr/>
          <p:nvPr/>
        </p:nvSpPr>
        <p:spPr>
          <a:xfrm>
            <a:off x="73152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73152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73152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73152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73152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iamond 73"/>
          <p:cNvSpPr/>
          <p:nvPr/>
        </p:nvSpPr>
        <p:spPr>
          <a:xfrm>
            <a:off x="73152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iamond 74"/>
          <p:cNvSpPr/>
          <p:nvPr/>
        </p:nvSpPr>
        <p:spPr>
          <a:xfrm>
            <a:off x="82296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82296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iamond 76"/>
          <p:cNvSpPr/>
          <p:nvPr/>
        </p:nvSpPr>
        <p:spPr>
          <a:xfrm>
            <a:off x="82296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iamond 77"/>
          <p:cNvSpPr/>
          <p:nvPr/>
        </p:nvSpPr>
        <p:spPr>
          <a:xfrm>
            <a:off x="82296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iamond 78"/>
          <p:cNvSpPr/>
          <p:nvPr/>
        </p:nvSpPr>
        <p:spPr>
          <a:xfrm>
            <a:off x="82296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iamond 79"/>
          <p:cNvSpPr/>
          <p:nvPr/>
        </p:nvSpPr>
        <p:spPr>
          <a:xfrm>
            <a:off x="82296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iamond 80"/>
          <p:cNvSpPr/>
          <p:nvPr/>
        </p:nvSpPr>
        <p:spPr>
          <a:xfrm>
            <a:off x="82296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iamond 81"/>
          <p:cNvSpPr/>
          <p:nvPr/>
        </p:nvSpPr>
        <p:spPr>
          <a:xfrm>
            <a:off x="82296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iamond 82"/>
          <p:cNvSpPr/>
          <p:nvPr/>
        </p:nvSpPr>
        <p:spPr>
          <a:xfrm>
            <a:off x="91440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iamond 83"/>
          <p:cNvSpPr/>
          <p:nvPr/>
        </p:nvSpPr>
        <p:spPr>
          <a:xfrm>
            <a:off x="91440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iamond 84"/>
          <p:cNvSpPr/>
          <p:nvPr/>
        </p:nvSpPr>
        <p:spPr>
          <a:xfrm>
            <a:off x="91440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iamond 85"/>
          <p:cNvSpPr/>
          <p:nvPr/>
        </p:nvSpPr>
        <p:spPr>
          <a:xfrm>
            <a:off x="91440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iamond 86"/>
          <p:cNvSpPr/>
          <p:nvPr/>
        </p:nvSpPr>
        <p:spPr>
          <a:xfrm>
            <a:off x="91440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iamond 87"/>
          <p:cNvSpPr/>
          <p:nvPr/>
        </p:nvSpPr>
        <p:spPr>
          <a:xfrm>
            <a:off x="91440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Diamond 88"/>
          <p:cNvSpPr/>
          <p:nvPr/>
        </p:nvSpPr>
        <p:spPr>
          <a:xfrm>
            <a:off x="91440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Diamond 89"/>
          <p:cNvSpPr/>
          <p:nvPr/>
        </p:nvSpPr>
        <p:spPr>
          <a:xfrm>
            <a:off x="91440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Diamond 90"/>
          <p:cNvSpPr/>
          <p:nvPr/>
        </p:nvSpPr>
        <p:spPr>
          <a:xfrm>
            <a:off x="100584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Diamond 91"/>
          <p:cNvSpPr/>
          <p:nvPr/>
        </p:nvSpPr>
        <p:spPr>
          <a:xfrm>
            <a:off x="100584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Diamond 92"/>
          <p:cNvSpPr/>
          <p:nvPr/>
        </p:nvSpPr>
        <p:spPr>
          <a:xfrm>
            <a:off x="100584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Diamond 93"/>
          <p:cNvSpPr/>
          <p:nvPr/>
        </p:nvSpPr>
        <p:spPr>
          <a:xfrm>
            <a:off x="100584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Diamond 94"/>
          <p:cNvSpPr/>
          <p:nvPr/>
        </p:nvSpPr>
        <p:spPr>
          <a:xfrm>
            <a:off x="100584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100584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100584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100584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Diamond 98"/>
          <p:cNvSpPr/>
          <p:nvPr/>
        </p:nvSpPr>
        <p:spPr>
          <a:xfrm>
            <a:off x="109728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Diamond 99"/>
          <p:cNvSpPr/>
          <p:nvPr/>
        </p:nvSpPr>
        <p:spPr>
          <a:xfrm>
            <a:off x="109728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Diamond 100"/>
          <p:cNvSpPr/>
          <p:nvPr/>
        </p:nvSpPr>
        <p:spPr>
          <a:xfrm>
            <a:off x="109728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Diamond 101"/>
          <p:cNvSpPr/>
          <p:nvPr/>
        </p:nvSpPr>
        <p:spPr>
          <a:xfrm>
            <a:off x="109728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Diamond 102"/>
          <p:cNvSpPr/>
          <p:nvPr/>
        </p:nvSpPr>
        <p:spPr>
          <a:xfrm>
            <a:off x="109728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Diamond 103"/>
          <p:cNvSpPr/>
          <p:nvPr/>
        </p:nvSpPr>
        <p:spPr>
          <a:xfrm>
            <a:off x="109728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Diamond 104"/>
          <p:cNvSpPr/>
          <p:nvPr/>
        </p:nvSpPr>
        <p:spPr>
          <a:xfrm>
            <a:off x="109728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Diamond 105"/>
          <p:cNvSpPr/>
          <p:nvPr/>
        </p:nvSpPr>
        <p:spPr>
          <a:xfrm>
            <a:off x="109728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Diamond 106"/>
          <p:cNvSpPr/>
          <p:nvPr/>
        </p:nvSpPr>
        <p:spPr>
          <a:xfrm>
            <a:off x="11887200" y="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Diamond 107"/>
          <p:cNvSpPr/>
          <p:nvPr/>
        </p:nvSpPr>
        <p:spPr>
          <a:xfrm>
            <a:off x="11887200" y="914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11887200" y="1828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11887200" y="27432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11887200" y="36576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Diamond 111"/>
          <p:cNvSpPr/>
          <p:nvPr/>
        </p:nvSpPr>
        <p:spPr>
          <a:xfrm>
            <a:off x="11887200" y="45720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11887200" y="54864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Diamond 113"/>
          <p:cNvSpPr/>
          <p:nvPr/>
        </p:nvSpPr>
        <p:spPr>
          <a:xfrm>
            <a:off x="11887200" y="6400800"/>
            <a:ext cx="45720" cy="45720"/>
          </a:xfrm>
          <a:prstGeom prst="diamond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Diamond 114"/>
          <p:cNvSpPr/>
          <p:nvPr/>
        </p:nvSpPr>
        <p:spPr>
          <a:xfrm>
            <a:off x="4572000" y="1828800"/>
            <a:ext cx="3017520" cy="3017520"/>
          </a:xfrm>
          <a:prstGeom prst="diamond">
            <a:avLst/>
          </a:prstGeom>
          <a:solidFill>
            <a:srgbClr val="2D1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</a:rPr>
              <a:t>SnapSense AI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0" y="2377440"/>
            <a:ext cx="39319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14400" y="2514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E2E8F0"/>
                </a:solidFill>
              </a:rPr>
              <a:t>Unlock the full power of your Snapdragon PC
privately, instantly, intelligently.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371600" y="3657600"/>
            <a:ext cx="20116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371600" y="370332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8B5CF6"/>
                </a:solidFill>
              </a:rPr>
              <a:t>6.7x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71600" y="43708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Voice Speedup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840480" y="3657600"/>
            <a:ext cx="20116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40480" y="370332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8B5CF6"/>
                </a:solidFill>
              </a:rPr>
              <a:t>8.4x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40480" y="43708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Vision Speedup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3657600"/>
            <a:ext cx="20116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370332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8B5CF6"/>
                </a:solidFill>
              </a:rPr>
              <a:t>14x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09360" y="43708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Text Speedup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778240" y="3657600"/>
            <a:ext cx="20116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778240" y="370332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8B5CF6"/>
                </a:solidFill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778240" y="43708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Cloud Calls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200400" y="5120640"/>
            <a:ext cx="5760720" cy="59436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200400" y="5175504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3C5FD"/>
                </a:solidFill>
              </a:rPr>
              <a:t>github.com/HimanshuYadav5998/Snapdragon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Himanshu Yadav  |  Snapdragon AI Lab Build &amp; Present Challenge  |  Qualcomm x Unstop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